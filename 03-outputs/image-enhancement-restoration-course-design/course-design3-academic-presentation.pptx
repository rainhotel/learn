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8ceaf937f4fdf" /><Relationship Type="http://schemas.openxmlformats.org/officeDocument/2006/relationships/extended-properties" Target="/docProps/app.xml" Id="Rb7702f72fd274535" /><Relationship Type="http://schemas.openxmlformats.org/officeDocument/2006/relationships/officeDocument" Target="/ppt/presentation.xml" Id="R6d14af72bdaa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7a10a37d541e4"/>
  </p:sldMasterIdLst>
  <p:notesMasterIdLst>
    <p:notesMasterId xmlns:r="http://schemas.openxmlformats.org/officeDocument/2006/relationships" r:id="Rc1f4a18674ab46ab"/>
  </p:notesMasterIdLst>
  <p:sldIdLst>
    <p:sldId xmlns:r="http://schemas.openxmlformats.org/officeDocument/2006/relationships" id="256" r:id="Rb3652e97311041b8"/>
    <p:sldId xmlns:r="http://schemas.openxmlformats.org/officeDocument/2006/relationships" id="257" r:id="Rfa26e84be5784631"/>
    <p:sldId xmlns:r="http://schemas.openxmlformats.org/officeDocument/2006/relationships" id="258" r:id="R03f6e3a550a94791"/>
    <p:sldId xmlns:r="http://schemas.openxmlformats.org/officeDocument/2006/relationships" id="259" r:id="R674e7328283a4339"/>
    <p:sldId xmlns:r="http://schemas.openxmlformats.org/officeDocument/2006/relationships" id="260" r:id="R1a96994498c0427e"/>
    <p:sldId xmlns:r="http://schemas.openxmlformats.org/officeDocument/2006/relationships" id="261" r:id="R940cc92556fa4a4a"/>
    <p:sldId xmlns:r="http://schemas.openxmlformats.org/officeDocument/2006/relationships" id="262" r:id="Ra087be6f057145b1"/>
    <p:sldId xmlns:r="http://schemas.openxmlformats.org/officeDocument/2006/relationships" id="263" r:id="R1b01c93e70b94c81"/>
    <p:sldId xmlns:r="http://schemas.openxmlformats.org/officeDocument/2006/relationships" id="264" r:id="Rcd56400680fb47b5"/>
    <p:sldId xmlns:r="http://schemas.openxmlformats.org/officeDocument/2006/relationships" id="265" r:id="Rca382e54c0964846"/>
    <p:sldId xmlns:r="http://schemas.openxmlformats.org/officeDocument/2006/relationships" id="266" r:id="Rab86190bc9204f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bde1334a540c3" /><Relationship Type="http://schemas.openxmlformats.org/officeDocument/2006/relationships/slideMaster" Target="/ppt/slideMasters/slideMaster1.xml" Id="R9697a10a37d541e4" /><Relationship Type="http://schemas.openxmlformats.org/officeDocument/2006/relationships/notesMaster" Target="/ppt/notesMasters/notesMaster1.xml" Id="Rc1f4a18674ab46ab" /><Relationship Type="http://schemas.openxmlformats.org/officeDocument/2006/relationships/presProps" Target="/ppt/presProps.xml" Id="R95d42166c5394570" /><Relationship Type="http://schemas.openxmlformats.org/officeDocument/2006/relationships/tableStyles" Target="/ppt/tableStyles.xml" Id="Rc10212ca92584aee" /><Relationship Type="http://schemas.openxmlformats.org/officeDocument/2006/relationships/slide" Target="/ppt/slides/slide1.xml" Id="Rb3652e97311041b8" /><Relationship Type="http://schemas.openxmlformats.org/officeDocument/2006/relationships/slide" Target="/ppt/slides/slide2.xml" Id="Rfa26e84be5784631" /><Relationship Type="http://schemas.openxmlformats.org/officeDocument/2006/relationships/slide" Target="/ppt/slides/slide3.xml" Id="R03f6e3a550a94791" /><Relationship Type="http://schemas.openxmlformats.org/officeDocument/2006/relationships/slide" Target="/ppt/slides/slide4.xml" Id="R674e7328283a4339" /><Relationship Type="http://schemas.openxmlformats.org/officeDocument/2006/relationships/slide" Target="/ppt/slides/slide5.xml" Id="R1a96994498c0427e" /><Relationship Type="http://schemas.openxmlformats.org/officeDocument/2006/relationships/slide" Target="/ppt/slides/slide6.xml" Id="R940cc92556fa4a4a" /><Relationship Type="http://schemas.openxmlformats.org/officeDocument/2006/relationships/slide" Target="/ppt/slides/slide7.xml" Id="Ra087be6f057145b1" /><Relationship Type="http://schemas.openxmlformats.org/officeDocument/2006/relationships/slide" Target="/ppt/slides/slide8.xml" Id="R1b01c93e70b94c81" /><Relationship Type="http://schemas.openxmlformats.org/officeDocument/2006/relationships/slide" Target="/ppt/slides/slide9.xml" Id="Rcd56400680fb47b5" /><Relationship Type="http://schemas.openxmlformats.org/officeDocument/2006/relationships/slide" Target="/ppt/slides/slide10.xml" Id="Rca382e54c0964846" /><Relationship Type="http://schemas.openxmlformats.org/officeDocument/2006/relationships/slide" Target="/ppt/slides/slide11.xml" Id="Rab86190bc920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f6b8a3ce8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6dc4354574611" /><Relationship Type="http://schemas.openxmlformats.org/officeDocument/2006/relationships/notesMaster" Target="/ppt/notesMasters/notesMaster1.xml" Id="Rcc4481d5185148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9fd71a30604bdd" /><Relationship Type="http://schemas.openxmlformats.org/officeDocument/2006/relationships/notesMaster" Target="/ppt/notesMasters/notesMaster1.xml" Id="R51ec9721b3d2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c5567e632d4855" /><Relationship Type="http://schemas.openxmlformats.org/officeDocument/2006/relationships/notesMaster" Target="/ppt/notesMasters/notesMaster1.xml" Id="Rd98b28a1da4a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94ff6e07fb4a24" /><Relationship Type="http://schemas.openxmlformats.org/officeDocument/2006/relationships/notesMaster" Target="/ppt/notesMasters/notesMaster1.xml" Id="R17099838b8a84e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7e17514b8412e" /><Relationship Type="http://schemas.openxmlformats.org/officeDocument/2006/relationships/notesMaster" Target="/ppt/notesMasters/notesMaster1.xml" Id="R58d175bf575d4e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53b8760c8e4f03" /><Relationship Type="http://schemas.openxmlformats.org/officeDocument/2006/relationships/notesMaster" Target="/ppt/notesMasters/notesMaster1.xml" Id="R88aebe915c1f42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122540a10e4a52" /><Relationship Type="http://schemas.openxmlformats.org/officeDocument/2006/relationships/notesMaster" Target="/ppt/notesMasters/notesMaster1.xml" Id="Rf695ca8228bc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0def119a442f3" /><Relationship Type="http://schemas.openxmlformats.org/officeDocument/2006/relationships/notesMaster" Target="/ppt/notesMasters/notesMaster1.xml" Id="R90ef309969c249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f218d110614241" /><Relationship Type="http://schemas.openxmlformats.org/officeDocument/2006/relationships/notesMaster" Target="/ppt/notesMasters/notesMaster1.xml" Id="R77bd488943fb45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4dd1242ba460e" /><Relationship Type="http://schemas.openxmlformats.org/officeDocument/2006/relationships/notesMaster" Target="/ppt/notesMasters/notesMaster1.xml" Id="Re7059a76a9eb48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816880d9724535" /><Relationship Type="http://schemas.openxmlformats.org/officeDocument/2006/relationships/notesMaster" Target="/ppt/notesMasters/notesMaster1.xml" Id="R359aa7e6dd20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573cd52984d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d6b1679ed41ac" /><Relationship Type="http://schemas.openxmlformats.org/officeDocument/2006/relationships/slideLayout" Target="/ppt/slideLayouts/slideLayout1.xml" Id="R01d72209df90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d72209df90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23d30824f4cbb" /><Relationship Type="http://schemas.openxmlformats.org/officeDocument/2006/relationships/notesSlide" Target="/ppt/notesSlides/notesSlide1.xml" Id="R8c8f9f87a67c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7a00e4705437d" /><Relationship Type="http://schemas.openxmlformats.org/officeDocument/2006/relationships/notesSlide" Target="/ppt/notesSlides/notesSlide2.xml" Id="R56574f2f7d5c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9e3b2eb92438e" /><Relationship Type="http://schemas.openxmlformats.org/officeDocument/2006/relationships/image" Target="/ppt/media/image.png" Id="Rc2273b68480b4a68" /><Relationship Type="http://schemas.openxmlformats.org/officeDocument/2006/relationships/notesSlide" Target="/ppt/notesSlides/notesSlide3.xml" Id="Rd111c099623d4c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e970b586e45a3" /><Relationship Type="http://schemas.openxmlformats.org/officeDocument/2006/relationships/notesSlide" Target="/ppt/notesSlides/notesSlide4.xml" Id="R4ba1a9aef221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7545126d84b09" /><Relationship Type="http://schemas.openxmlformats.org/officeDocument/2006/relationships/image" Target="/ppt/media/image2.png" Id="Ra5e75d2ae452493e" /><Relationship Type="http://schemas.openxmlformats.org/officeDocument/2006/relationships/notesSlide" Target="/ppt/notesSlides/notesSlide5.xml" Id="R15972079f06b49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5608048648d3" /><Relationship Type="http://schemas.openxmlformats.org/officeDocument/2006/relationships/notesSlide" Target="/ppt/notesSlides/notesSlide6.xml" Id="R6ac9e8a92bfd44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1eec05f784fc0" /><Relationship Type="http://schemas.openxmlformats.org/officeDocument/2006/relationships/image" Target="/ppt/media/image3.png" Id="R229ca4deac654ffb" /><Relationship Type="http://schemas.openxmlformats.org/officeDocument/2006/relationships/notesSlide" Target="/ppt/notesSlides/notesSlide7.xml" Id="Ra5710748f6f0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aa48656f4746" /><Relationship Type="http://schemas.openxmlformats.org/officeDocument/2006/relationships/chart" Target="/ppt/slides/charts/chart1.xml" Id="R4c1b3ed5dcb54ccf" /><Relationship Type="http://schemas.openxmlformats.org/officeDocument/2006/relationships/notesSlide" Target="/ppt/notesSlides/notesSlide8.xml" Id="Rd26ae5e6c5fb45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46ce2f81e45cb" /><Relationship Type="http://schemas.openxmlformats.org/officeDocument/2006/relationships/chart" Target="/ppt/slides/charts/chart2.xml" Id="Rca9d22258c7c4a87" /><Relationship Type="http://schemas.openxmlformats.org/officeDocument/2006/relationships/notesSlide" Target="/ppt/notesSlides/notesSlide9.xml" Id="R42073233ec5143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d327a79f14412" /><Relationship Type="http://schemas.openxmlformats.org/officeDocument/2006/relationships/notesSlide" Target="/ppt/notesSlides/notesSlide10.xml" Id="R7bbd56e9152848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a859dcf04db5" /><Relationship Type="http://schemas.openxmlformats.org/officeDocument/2006/relationships/notesSlide" Target="/ppt/notesSlides/notesSlide11.xml" Id="R3bfc1767da05423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处理前</c:v>
          </c:tx>
          <c:spPr>
            <a:solidFill xmlns:a="http://schemas.openxmlformats.org/drawingml/2006/main">
              <a:srgbClr val="94A3B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SNR</c:v>
              </c:pt>
              <c:pt idx="1">
                <c:v>PSNR</c:v>
              </c:pt>
            </c:strLit>
          </c:cat>
          <c:val>
            <c:numLit>
              <c:formatCode>General</c:formatCode>
              <c:ptCount val="2"/>
              <c:pt idx="0">
                <c:v>4.664</c:v>
              </c:pt>
              <c:pt idx="1">
                <c:v>11.476</c:v>
              </c:pt>
            </c:numLit>
          </c:val>
        </c:ser>
        <c:ser>
          <c:idx val="1"/>
          <c:order val="1"/>
          <c:tx>
            <c:v>处理后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SNR</c:v>
              </c:pt>
              <c:pt idx="1">
                <c:v>PSNR</c:v>
              </c:pt>
            </c:strLit>
          </c:cat>
          <c:val>
            <c:numLit>
              <c:formatCode>General</c:formatCode>
              <c:ptCount val="2"/>
              <c:pt idx="0">
                <c:v>15.032</c:v>
              </c:pt>
              <c:pt idx="1">
                <c:v>21.844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34155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复原前</c:v>
          </c:tx>
          <c:spPr>
            <a:solidFill xmlns:a="http://schemas.openxmlformats.org/drawingml/2006/main">
              <a:srgbClr val="94A3B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平均梯度</c:v>
              </c:pt>
              <c:pt idx="1">
                <c:v>拉普拉斯方差</c:v>
              </c:pt>
            </c:strLit>
          </c:cat>
          <c:val>
            <c:numLit>
              <c:formatCode>General</c:formatCode>
              <c:ptCount val="2"/>
              <c:pt idx="0">
                <c:v>0.03489</c:v>
              </c:pt>
              <c:pt idx="1">
                <c:v>0.01926</c:v>
              </c:pt>
            </c:numLit>
          </c:val>
        </c:ser>
        <c:ser>
          <c:idx val="1"/>
          <c:order val="1"/>
          <c:tx>
            <c:v>复原后</c:v>
          </c:tx>
          <c:spPr>
            <a:solidFill xmlns:a="http://schemas.openxmlformats.org/drawingml/2006/main">
              <a:srgbClr val="1F4D7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平均梯度</c:v>
              </c:pt>
              <c:pt idx="1">
                <c:v>拉普拉斯方差</c:v>
              </c:pt>
            </c:strLit>
          </c:cat>
          <c:val>
            <c:numLit>
              <c:formatCode>General</c:formatCode>
              <c:ptCount val="2"/>
              <c:pt idx="0">
                <c:v>0.11841</c:v>
              </c:pt>
              <c:pt idx="1">
                <c:v>0.12463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34155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69B4B-5F2A-46BA-979E-EF05D99A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F653D-1C7C-42C4-9B5E-EEDB71E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图像增强与复原算法综合应用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57E5B-5952-4B07-AA20-081D9466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4D78"/>
                </a:solidFill>
              </a:defRPr>
            </a:pPr>
            <a:r>
              <a:rPr sz="2025" b="0">
                <a:solidFill>
                  <a:srgbClr val="1F4D78"/>
                </a:solidFill>
              </a:rPr>
              <a:t>混合噪声抑制、维纳复原与质量评价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9F4E2-20B1-49EB-B46E-699D9C58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《数字图像处理实践》课程设计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F6A38-40C2-44B8-87E3-1A192E6D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李林浩 | 202483290054 | 学号尾数偶数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E37EA-35EB-4E02-B498-248F67B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EB328-0390-4BC7-AFBA-FB67E1B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Enhancement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028A3-8BD6-4B16-ACEA-53C4B25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MSE ↓ 90.8%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67B0F-99D8-4845-850C-F1619A6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SNR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181CF-61F3-450E-8D91-FC8CC764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4D78"/>
                </a:solidFill>
              </a:defRPr>
            </a:pPr>
            <a:r>
              <a:rPr sz="2250" b="1">
                <a:solidFill>
                  <a:srgbClr val="1F4D78"/>
                </a:solidFill>
              </a:rPr>
              <a:t>+10.37 dB</a:t>
            </a:r>
          </a:p>
        </p:txBody>
      </p:sp>
    </p:spTree>
    <p:extLst>
      <p:ext uri="{BB962C8B-B14F-4D97-AF65-F5344CB8AC3E}">
        <p14:creationId xmlns:p14="http://schemas.microsoft.com/office/powerpoint/2010/main" val="792580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484AC-98E6-4505-ADF7-87FB60D4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01  Problem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22595-606C-4ECC-8FD6-C064A10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任务要求与选图规则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46F34-5B59-4AF9-A335-36E783A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9AB71-FF42-4218-9F7D-10517743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E740A-BCE6-411A-B456-BBAD405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FDF75-B6A6-47AE-9A4E-DA35724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97285-7F03-4048-AA4D-62BB31F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课程设计要求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F2CEB-A01C-4CAB-BE6E-2F1E787A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1. 设计空间域与频率域结合的图像增强算法</a:t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2. 噪声类型：随机噪声 + 周期噪声</a:t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3. 使用 MSE、SNR、SSIM 等指标评价</a:t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4. 针对未知降质图像设计算法复原</a:t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5. 形成完整科技报告与实验分析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91256-218C-4BA9-BEBC-6D84AD3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4572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16D3-E62D-43C9-AF56-9490E66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D78"/>
                </a:solidFill>
              </a:defRPr>
            </a:pPr>
            <a:r>
              <a:rPr sz="1500" b="1">
                <a:solidFill>
                  <a:srgbClr val="1F4D78"/>
                </a:solidFill>
              </a:rPr>
              <a:t>本次选择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E114-9E67-46B9-8902-B149A90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学号：202483290054</a:t>
            </a:r>
          </a:p>
          <a:p xmlns:a="http://schemas.openxmlformats.org/drawingml/2006/main">
            <a:pPr algn="l"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尾数：4，属于偶数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增强任务：第二组 dog 图像</a:t>
            </a:r>
          </a:p>
          <a:p xmlns:a="http://schemas.openxmlformats.org/drawingml/2006/main">
            <a:pPr algn="l"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复原任务：图 1 模糊树林图像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图 2 低照度瀑布图像保留为备选结果。</a:t>
            </a:r>
          </a:p>
        </p:txBody>
      </p:sp>
    </p:spTree>
    <p:extLst>
      <p:ext uri="{BB962C8B-B14F-4D97-AF65-F5344CB8AC3E}">
        <p14:creationId xmlns:p14="http://schemas.microsoft.com/office/powerpoint/2010/main" val="953640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4110C-B151-4515-A1CD-F1D7133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02  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16638-6435-4C90-9D19-E151FFC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退化特征分析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F3714-4C24-48E2-B2BD-69BCC2EC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19FB4-5FF8-403C-84FF-845BFF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5E11-7A7C-4CD1-8AD1-96232B0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73b68480b4a68"/>
          <a:stretch xmlns:a="http://schemas.openxmlformats.org/drawingml/2006/main"/>
        </p:blipFill>
        <p:spPr>
          <a:xfrm xmlns:a="http://schemas.openxmlformats.org/drawingml/2006/main">
            <a:off x="710494" y="1447800"/>
            <a:ext cx="6560961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507C4-4EC3-44ED-A727-B238A727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47800"/>
            <a:ext cx="342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1E944-8BE9-4910-BB85-D8B3D7A3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核心观察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C6AE0-A013-421B-8D8A-06DFD6A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退化图像中存在规则条纹，说明有周期噪声。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频谱中出现远离中心的成对亮点，主峰约位于中心左右 ±71、上下 ±74 像素。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随机噪声在空间域呈分散分布，需要配合中值/均值滤波。</a:t>
            </a:r>
          </a:p>
        </p:txBody>
      </p:sp>
    </p:spTree>
    <p:extLst>
      <p:ext uri="{BB962C8B-B14F-4D97-AF65-F5344CB8AC3E}">
        <p14:creationId xmlns:p14="http://schemas.microsoft.com/office/powerpoint/2010/main" val="213426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1E022-8DA7-4373-840A-30D417A5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03  Enhancement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7D384-E0A4-4E0C-AED7-94F2297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混合噪声图像增强算法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BFEF6-B833-4C48-9567-138971F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6E984-0543-4455-8602-386BB110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5D1F2-DDCC-4CC7-B0B4-385D4B1F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89B96-B1D7-4A92-A47F-2FFABF3B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05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9C624-C638-4E12-B8F6-A3AD54A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E6B2C-C12F-4DF5-A891-B559AA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C98FE-F392-49D3-B0BE-3002AB2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7EB86-9733-4DA7-97AB-E7687017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退化图像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A417C-0872-4DC6-AAE6-3FCF913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频谱分析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58860-B53E-4ED7-9D0F-40E4B34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高斯陷波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3FEF1-48F5-4CCD-96CF-8ABC16D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空间域滤波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70F0B-EBAB-4649-9F30-BB97552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锐化与拉伸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D236B-BA73-4D2C-9460-6FC84133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1DD93-CFA9-4195-A164-4DC3581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H_k(u,v) = 1 - exp(-D_k(u,v)^2 / 2D0^2)</a:t>
            </a:r>
          </a:p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H(u,v) = Π H_k(u,v),  D0 =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12CE5-28AC-468E-97B3-6BDFF250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AF926-50B5-4F6B-AC82-5D59887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g(x,y) = f(x,y) + α · [f(x,y) - f_smooth(x,y)]</a:t>
            </a:r>
          </a:p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α = 0.15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4ACE8-4795-4B60-ADE6-326845A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设计思想：先在频率域定点压制周期分量，再在空间域降低随机噪声；最后补偿平滑带来的细节损失。</a:t>
            </a:r>
          </a:p>
        </p:txBody>
      </p:sp>
    </p:spTree>
    <p:extLst>
      <p:ext uri="{BB962C8B-B14F-4D97-AF65-F5344CB8AC3E}">
        <p14:creationId xmlns:p14="http://schemas.microsoft.com/office/powerpoint/2010/main" val="1997543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D9BAE-42CE-4238-AEA6-4F06E9B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04  Frequency-Domain Filtering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5D99E-4705-4DB6-B666-71FA1502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频率域陷波滤波器设计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D524-00CA-475E-B88D-3544725B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6961D-F16C-4A08-B52E-0F7F6C3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FD6D9-5910-478E-94B3-ED9D818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5d2ae452493e"/>
          <a:stretch xmlns:a="http://schemas.openxmlformats.org/drawingml/2006/main"/>
        </p:blipFill>
        <p:spPr>
          <a:xfrm xmlns:a="http://schemas.openxmlformats.org/drawingml/2006/main">
            <a:off x="742950" y="1827916"/>
            <a:ext cx="6800850" cy="23830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7B86-28DD-48F1-BC31-44992E4A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478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C8DCC-AB36-4A27-87D2-FAF357F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参数设定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848D4-92B6-4B3B-91AB-4EF49B7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陷波中心：</a:t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(0, ±71), (±74, 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陷波半径：D0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滤波类型：高斯陷波拒绝滤波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优点：过渡平滑，较少产生振铃。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A97E-E423-40DE-802C-079136C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频谱处理目标不是削弱所有高频，而是仅抑制周期噪声对应的离散峰值，从而尽量保留狗图像本身的边缘和纹理。</a:t>
            </a:r>
          </a:p>
        </p:txBody>
      </p:sp>
    </p:spTree>
    <p:extLst>
      <p:ext uri="{BB962C8B-B14F-4D97-AF65-F5344CB8AC3E}">
        <p14:creationId xmlns:p14="http://schemas.microsoft.com/office/powerpoint/2010/main" val="1577359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7717D-A1FF-4908-AACC-A2A7E00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05  Restoration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A2F2-20EA-4C6A-A103-29C0134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图像复原模型与维纳滤波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0A07-8F52-4F65-A7C9-846B3E3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FA3BB-2B97-4DC7-94E9-2645372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A149-D3E3-41EA-9619-9E505783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E326D-D389-409C-8D58-91CCA015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49149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58FEC-FB19-41D7-9604-B40A49E7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退化模型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8F7FD-C32C-4D92-A5A5-FC7C2F0B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A1DA-0011-4EC5-B367-1BC46F3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g(x,y) = h(x,y) * f(x,y) + n(x,y)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B125-47B3-493F-A1E6-E3052776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图1主要表现为模糊，退化可近似为低通型点扩散函数导致的高频衰减。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50568-085B-4F1B-82F5-CEBA5CDD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47800"/>
            <a:ext cx="49149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34017-11B0-4B35-8559-7C16862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78"/>
                </a:solidFill>
              </a:defRPr>
            </a:pPr>
            <a:r>
              <a:rPr sz="2100" b="1">
                <a:solidFill>
                  <a:srgbClr val="1F4D78"/>
                </a:solidFill>
              </a:rPr>
              <a:t>维纳复原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64FD0-D028-4560-994C-C6B8E2F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3065F-655C-4FAD-BF59-4125691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F̂(u,v) = H*(u,v) / (|H(u,v)|² + K) · G(u,v)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0F692-28B9-4B76-B865-9A645240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390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参数：Gaussian PSF size = 13, σ = 1.35, K = 0.004。维纳滤波在复原高频时抑制噪声放大，比直接逆滤波更稳定。</a:t>
            </a:r>
          </a:p>
        </p:txBody>
      </p:sp>
    </p:spTree>
    <p:extLst>
      <p:ext uri="{BB962C8B-B14F-4D97-AF65-F5344CB8AC3E}">
        <p14:creationId xmlns:p14="http://schemas.microsoft.com/office/powerpoint/2010/main" val="1383351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39B11-4079-4EE2-940F-F01F35F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06  Restoration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0A02C-95A5-4EA0-9106-03060215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图1模糊树林图像复原结果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A3785-AC32-4D97-B16B-0FA780D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AFC3E-EB21-49F7-A947-AC62DEF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5CDE5-7D29-4B2F-9425-124088C4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ca4deac654ffb"/>
          <a:stretch xmlns:a="http://schemas.openxmlformats.org/drawingml/2006/main"/>
        </p:blipFill>
        <p:spPr>
          <a:xfrm xmlns:a="http://schemas.openxmlformats.org/drawingml/2006/main">
            <a:off x="742950" y="1441491"/>
            <a:ext cx="6838950" cy="29653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402A2-642B-47CE-82DB-7D248A38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31623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7F7E0-B5F3-4A9A-86F4-26EB927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现象解释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EE83-048A-4BB4-85F2-15F231BE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复原后树林边缘更锐利，纹理层次增强。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亮度分量复原后再替换回彩色图像，避免直接对 RGB 三通道分别复原导致颜色偏移。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由于没有清晰参考图，采用无参考指标评价。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EFE50-DFAB-41BB-B338-BB82269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关键提升：平均梯度 0.03489 → 0.11841；拉普拉斯方差 0.01926 → 0.12463。</a:t>
            </a:r>
          </a:p>
        </p:txBody>
      </p:sp>
    </p:spTree>
    <p:extLst>
      <p:ext uri="{BB962C8B-B14F-4D97-AF65-F5344CB8AC3E}">
        <p14:creationId xmlns:p14="http://schemas.microsoft.com/office/powerpoint/2010/main" val="1822044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D30FD-3A39-406F-8362-8B03A2D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07  Quantitative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EE8BB-7723-4D0A-842F-45227DE6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增强任务质量评价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E45BB-0BB7-409F-93EF-D4CDAF8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85A78-CADE-4DAF-BF0D-195B0BFB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F5CF2-A25B-45DC-94A9-58A10FCA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81050" y="1524000"/>
          <a:ext xmlns:a="http://schemas.openxmlformats.org/drawingml/2006/main" cx="6858000" cy="1352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085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SNR/dB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PSNR/dB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SSIM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t>处理前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0.071191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0.266816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4.664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11.476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0.1039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t>处理后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0.006541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0.080877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15.032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21.844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0.6558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96250" y="1524000"/>
          <a:ext xmlns:a="http://schemas.openxmlformats.org/drawingml/2006/main" cx="2857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1b3ed5dcb54cc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03D22-2D7C-494D-BC2C-292D74E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994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A7F17-3C34-424B-B2EB-AF7CA3ED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指标解读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A44FE-6A17-4883-AEAA-337484A0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MSE 下降约 90.8%，说明像素误差显著降低；SNR 与 PSNR 均提升约 10 dB，说明噪声能量被有效抑制；SSIM 提升表明结构信息恢复明显。</a:t>
            </a:r>
          </a:p>
        </p:txBody>
      </p:sp>
    </p:spTree>
    <p:extLst>
      <p:ext uri="{BB962C8B-B14F-4D97-AF65-F5344CB8AC3E}">
        <p14:creationId xmlns:p14="http://schemas.microsoft.com/office/powerpoint/2010/main" val="1998344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BFC5D-1F3D-457B-81EF-193133B5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08  No-Reference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72CBE-4519-4B9A-AFF2-2C29327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复原任务无参考评价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414DC-4565-4423-A80E-87B0BFF2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09DC-422A-4D42-B466-C587D63F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01581-211E-4C17-85E0-CAF79F5B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81050" y="1504950"/>
          <a:ext xmlns:a="http://schemas.openxmlformats.org/drawingml/2006/main" cx="5953125" cy="1352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90625"/>
                <a:gridCol w="1190625"/>
                <a:gridCol w="1190625"/>
                <a:gridCol w="1190625"/>
                <a:gridCol w="1190625"/>
              </a:tblGrid>
              <a:tr h="45085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信息熵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标准差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平均梯度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拉普拉斯方差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t>复原前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7.320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0.03489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0.01926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t>复原后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7.607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0.11841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0.12463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286625" y="1390650"/>
          <a:ext xmlns:a="http://schemas.openxmlformats.org/drawingml/2006/main" cx="371475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d22258c7c4a8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2199D-3045-4448-9ADB-DFC4229D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</a:defRPr>
            </a:pPr>
            <a:r>
              <a:rPr sz="2025" b="1">
                <a:solidFill>
                  <a:srgbClr val="0B2545"/>
                </a:solidFill>
              </a:rPr>
              <a:t>为何使用无参考指标？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776ED-1BB4-44F3-8800-BD8D9AE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题目未提供图1对应清晰参考图，因此不能计算 MSE/SSIM。信息熵和标准差用于评价灰度信息量与对比度；平均梯度和拉普拉斯方差用于评价边缘变化和高频细节。</a:t>
            </a:r>
          </a:p>
        </p:txBody>
      </p:sp>
    </p:spTree>
    <p:extLst>
      <p:ext uri="{BB962C8B-B14F-4D97-AF65-F5344CB8AC3E}">
        <p14:creationId xmlns:p14="http://schemas.microsoft.com/office/powerpoint/2010/main" val="42440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546E4-65B8-4C08-A1BC-6404C84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09 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EB711-3F08-4D16-98E7-46C4321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讨论：方法有效性与限制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457A5-E561-48BC-9A1B-EA4CC5D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1B38-2221-4313-9249-06799F04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23B75-3F09-442F-9B93-F8343EE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1B070-A2E5-40AD-936A-37833C9E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57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9525">
            <a:solidFill>
              <a:srgbClr val="BFD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83671-3110-4F34-81C5-E216F21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有效性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F8C26-5E2C-45C7-B93E-9A2A611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3810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频域陷波针对周期噪声峰值，抑制条纹干扰。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空间域滤波进一步降低随机噪声。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高提升锐化补偿滤波造成的局部细节损失。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8858B-ADC2-469F-B9A1-96AB8EB4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57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E9D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AA445-C221-493E-91B4-BE957FF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</a:defRPr>
            </a:pPr>
            <a:r>
              <a:rPr sz="2250" b="1">
                <a:solidFill>
                  <a:srgbClr val="B7791F"/>
                </a:solidFill>
              </a:rPr>
              <a:t>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FDB6F-E723-4C1C-86C0-61001FA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3810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陷波中心依赖当前图像频谱，需要针对不同图像重新估计。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复原任务的 PSF 是近似模型，可能存在局部过锐化。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无参考指标只能间接反映视觉质量。</a:t>
            </a:r>
          </a:p>
        </p:txBody>
      </p:sp>
    </p:spTree>
    <p:extLst>
      <p:ext uri="{BB962C8B-B14F-4D97-AF65-F5344CB8AC3E}">
        <p14:creationId xmlns:p14="http://schemas.microsoft.com/office/powerpoint/2010/main" val="488491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DA702-CB1A-478E-A4F1-ABAFE0C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CFB35-28EA-4B6B-9E3E-FD1F3F4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2545"/>
                </a:solidFill>
              </a:defRPr>
            </a:pPr>
            <a:r>
              <a:rPr sz="2775" b="1">
                <a:solidFill>
                  <a:srgbClr val="0B2545"/>
                </a:solidFill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EC927-0A67-4425-8E4C-8E5AE0FD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839E-D21B-49B2-A6F8-EFF3248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数字图像处理实践 | 图像增强与复原算法综合应用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3D62-5253-4123-8E56-05C40692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李林浩 202483290054 |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B725E-5AF2-44A4-A1AC-B5B3C2B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本课程设计完成了空间域与频率域结合的图像增强算法，并针对图1模糊树林图像完成基于维纳滤波的复原实验。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8423B-C8DF-4C55-9970-8FA4A559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0E654-14DD-4785-8E30-37FE37A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851D9-CF6A-4FE2-9DEC-F6B845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0.071 → 0.0065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72D9A-053B-41E1-9B9A-C52AD1A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47215-EF47-4977-AA91-1578A7A3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SSIM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06A2F-4F88-4D19-8828-FC1C4B0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4D78"/>
                </a:solidFill>
              </a:defRPr>
            </a:pPr>
            <a:r>
              <a:rPr sz="2250" b="1">
                <a:solidFill>
                  <a:srgbClr val="1F4D78"/>
                </a:solidFill>
              </a:rPr>
              <a:t>0.104 → 0.656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10942-CDD1-4424-9F28-7C4D3039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1A4C0-EFB9-4CDD-92EB-DC2B666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Avg. Gradient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9C8C4-FEE6-4590-9567-883859F3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791F"/>
                </a:solidFill>
              </a:defRPr>
            </a:pPr>
            <a:r>
              <a:rPr sz="2250" b="1">
                <a:solidFill>
                  <a:srgbClr val="B7791F"/>
                </a:solidFill>
              </a:rPr>
              <a:t>0.035 → 0.118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CCE7C-1A05-48C9-9215-86ACD04C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后续可将频谱峰值检测自动化，并引入盲去卷积或更强的无参考质量评价方法作为对比。</a:t>
            </a:r>
          </a:p>
        </p:txBody>
      </p:sp>
    </p:spTree>
    <p:extLst>
      <p:ext uri="{BB962C8B-B14F-4D97-AF65-F5344CB8AC3E}">
        <p14:creationId xmlns:p14="http://schemas.microsoft.com/office/powerpoint/2010/main" val="197028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2026-06-21T07:16:46.2520000Z</dcterms:created>
  <dcterms:modified xsi:type="dcterms:W3CDTF">2026-06-21T07:16:46.2520000Z</dcterms:modified>
</coreProperties>
</file>